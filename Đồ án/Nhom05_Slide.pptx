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"/>
  </p:notesMasterIdLst>
  <p:sldIdLst>
    <p:sldId id="256" r:id="rId2"/>
    <p:sldId id="258" r:id="rId3"/>
    <p:sldId id="259" r:id="rId4"/>
    <p:sldId id="261" r:id="rId5"/>
    <p:sldId id="263" r:id="rId6"/>
    <p:sldId id="303" r:id="rId7"/>
    <p:sldId id="304" r:id="rId8"/>
    <p:sldId id="305" r:id="rId9"/>
    <p:sldId id="301" r:id="rId10"/>
    <p:sldId id="262" r:id="rId11"/>
    <p:sldId id="306" r:id="rId12"/>
    <p:sldId id="307" r:id="rId13"/>
    <p:sldId id="265" r:id="rId14"/>
    <p:sldId id="279" r:id="rId15"/>
  </p:sldIdLst>
  <p:sldSz cx="9144000" cy="5143500" type="screen16x9"/>
  <p:notesSz cx="6858000" cy="9144000"/>
  <p:embeddedFontLst>
    <p:embeddedFont>
      <p:font typeface="Archivo" panose="020B0604020202020204" charset="0"/>
      <p:regular r:id="rId17"/>
      <p:bold r:id="rId18"/>
      <p:italic r:id="rId19"/>
      <p:boldItalic r:id="rId20"/>
    </p:embeddedFont>
    <p:embeddedFont>
      <p:font typeface="Google Sans" pitchFamily="2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Black" panose="00000A00000000000000" pitchFamily="2" charset="0"/>
      <p:bold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  <p:embeddedFont>
      <p:font typeface="Rubik" panose="020B0604020202020204" charset="-79"/>
      <p:regular r:id="rId33"/>
      <p:bold r:id="rId34"/>
      <p:italic r:id="rId35"/>
      <p:boldItalic r:id="rId36"/>
    </p:embeddedFont>
    <p:embeddedFont>
      <p:font typeface="Rubik ExtraBold" panose="020B0604020202020204" charset="-79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E2A8D7-B8D6-45D4-8748-EE26C7C150F3}">
  <a:tblStyle styleId="{2DE2A8D7-B8D6-45D4-8748-EE26C7C150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A2D149F-67B7-4E06-863D-033C40F3AE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4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presProps" Target="pres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aeadc1d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aeadc1d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fab527f327_3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fab527f327_3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fab527f327_3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fab527f327_3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a6d112f5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fa6d112f5b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fab527f327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fab527f327_3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2F545B1D-C0C7-FDAA-5124-7B0EF085E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a6d112f5b_0_127:notes">
            <a:extLst>
              <a:ext uri="{FF2B5EF4-FFF2-40B4-BE49-F238E27FC236}">
                <a16:creationId xmlns:a16="http://schemas.microsoft.com/office/drawing/2014/main" id="{BE403D85-9A64-C720-9057-2ADA02097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fa6d112f5b_0_127:notes">
            <a:extLst>
              <a:ext uri="{FF2B5EF4-FFF2-40B4-BE49-F238E27FC236}">
                <a16:creationId xmlns:a16="http://schemas.microsoft.com/office/drawing/2014/main" id="{69914C8F-A934-36CA-0CF6-2CC305291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039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6D69E02-7869-7A63-E24A-C53D3F84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a6d112f5b_0_127:notes">
            <a:extLst>
              <a:ext uri="{FF2B5EF4-FFF2-40B4-BE49-F238E27FC236}">
                <a16:creationId xmlns:a16="http://schemas.microsoft.com/office/drawing/2014/main" id="{A941CA43-949B-1282-803C-4681B8949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fa6d112f5b_0_127:notes">
            <a:extLst>
              <a:ext uri="{FF2B5EF4-FFF2-40B4-BE49-F238E27FC236}">
                <a16:creationId xmlns:a16="http://schemas.microsoft.com/office/drawing/2014/main" id="{6B871DAD-98DA-4E46-4773-C92114B6A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889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87C7D78F-87B6-6BDF-3A8C-AD221D70C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a6d112f5b_0_127:notes">
            <a:extLst>
              <a:ext uri="{FF2B5EF4-FFF2-40B4-BE49-F238E27FC236}">
                <a16:creationId xmlns:a16="http://schemas.microsoft.com/office/drawing/2014/main" id="{5A387AC0-EFDC-4E63-433A-DF4BCA0E8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fa6d112f5b_0_127:notes">
            <a:extLst>
              <a:ext uri="{FF2B5EF4-FFF2-40B4-BE49-F238E27FC236}">
                <a16:creationId xmlns:a16="http://schemas.microsoft.com/office/drawing/2014/main" id="{11AC9CFB-0F96-796E-C5B9-6019C7D74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659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83B9B8D7-01CC-B4B9-095C-41B4BD3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a6d112f5b_0_127:notes">
            <a:extLst>
              <a:ext uri="{FF2B5EF4-FFF2-40B4-BE49-F238E27FC236}">
                <a16:creationId xmlns:a16="http://schemas.microsoft.com/office/drawing/2014/main" id="{B74A5105-FA0A-E1D8-3C3D-79B82D3F2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fa6d112f5b_0_127:notes">
            <a:extLst>
              <a:ext uri="{FF2B5EF4-FFF2-40B4-BE49-F238E27FC236}">
                <a16:creationId xmlns:a16="http://schemas.microsoft.com/office/drawing/2014/main" id="{D6CCAEE9-F5E5-733F-814F-5CF1160BD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301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ab527f327_3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ab527f327_3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25294F15-6CAB-BB61-5F30-298F439D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ab527f327_3_39:notes">
            <a:extLst>
              <a:ext uri="{FF2B5EF4-FFF2-40B4-BE49-F238E27FC236}">
                <a16:creationId xmlns:a16="http://schemas.microsoft.com/office/drawing/2014/main" id="{A9289716-F111-CC06-F82A-78852E831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ab527f327_3_39:notes">
            <a:extLst>
              <a:ext uri="{FF2B5EF4-FFF2-40B4-BE49-F238E27FC236}">
                <a16:creationId xmlns:a16="http://schemas.microsoft.com/office/drawing/2014/main" id="{6C1BD16B-4485-2BF7-B5AE-3E0029694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710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A8B23CEA-33CC-ADF9-BEA2-D8810A8D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ab527f327_3_39:notes">
            <a:extLst>
              <a:ext uri="{FF2B5EF4-FFF2-40B4-BE49-F238E27FC236}">
                <a16:creationId xmlns:a16="http://schemas.microsoft.com/office/drawing/2014/main" id="{5D619CFB-4991-6576-80C3-6269C9557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ab527f327_3_39:notes">
            <a:extLst>
              <a:ext uri="{FF2B5EF4-FFF2-40B4-BE49-F238E27FC236}">
                <a16:creationId xmlns:a16="http://schemas.microsoft.com/office/drawing/2014/main" id="{3A780AB6-DDDF-AA71-6466-3ECC6CE29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167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fab527f327_3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fab527f327_3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fab527f327_3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fab527f327_3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2550" y="539500"/>
            <a:ext cx="8298900" cy="177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83500" y="2315100"/>
            <a:ext cx="6777000" cy="5730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SECTION_HEADER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910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2989363" y="2623781"/>
            <a:ext cx="40899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2"/>
          </p:nvPr>
        </p:nvSpPr>
        <p:spPr>
          <a:xfrm>
            <a:off x="2989363" y="2959517"/>
            <a:ext cx="40899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3"/>
          </p:nvPr>
        </p:nvSpPr>
        <p:spPr>
          <a:xfrm>
            <a:off x="2989363" y="1537431"/>
            <a:ext cx="40899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4"/>
          </p:nvPr>
        </p:nvSpPr>
        <p:spPr>
          <a:xfrm>
            <a:off x="2989363" y="4049256"/>
            <a:ext cx="40899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5"/>
          </p:nvPr>
        </p:nvSpPr>
        <p:spPr>
          <a:xfrm>
            <a:off x="2989363" y="3715531"/>
            <a:ext cx="40899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6"/>
          </p:nvPr>
        </p:nvSpPr>
        <p:spPr>
          <a:xfrm>
            <a:off x="2989363" y="1868275"/>
            <a:ext cx="40899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11025" y="547410"/>
            <a:ext cx="7719600" cy="55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174000" cy="203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713225" y="3256225"/>
            <a:ext cx="3459000" cy="11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"/>
              <a:buAutoNum type="arabicPeriod"/>
              <a:defRPr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0" y="910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704175" y="2360650"/>
            <a:ext cx="33345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910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3832525" y="2519275"/>
            <a:ext cx="22500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2"/>
          </p:nvPr>
        </p:nvSpPr>
        <p:spPr>
          <a:xfrm>
            <a:off x="3832525" y="2849745"/>
            <a:ext cx="2250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3"/>
          </p:nvPr>
        </p:nvSpPr>
        <p:spPr>
          <a:xfrm>
            <a:off x="1449100" y="1403950"/>
            <a:ext cx="22500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4"/>
          </p:nvPr>
        </p:nvSpPr>
        <p:spPr>
          <a:xfrm>
            <a:off x="6180926" y="3984750"/>
            <a:ext cx="22500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5"/>
          </p:nvPr>
        </p:nvSpPr>
        <p:spPr>
          <a:xfrm>
            <a:off x="6180925" y="3654950"/>
            <a:ext cx="22500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6"/>
          </p:nvPr>
        </p:nvSpPr>
        <p:spPr>
          <a:xfrm>
            <a:off x="1449102" y="1731393"/>
            <a:ext cx="22500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713100" y="549219"/>
            <a:ext cx="77178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910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1"/>
          </p:nvPr>
        </p:nvSpPr>
        <p:spPr>
          <a:xfrm>
            <a:off x="2884625" y="3533925"/>
            <a:ext cx="1820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2"/>
          </p:nvPr>
        </p:nvSpPr>
        <p:spPr>
          <a:xfrm>
            <a:off x="2894394" y="4041574"/>
            <a:ext cx="22872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3"/>
          </p:nvPr>
        </p:nvSpPr>
        <p:spPr>
          <a:xfrm>
            <a:off x="6176474" y="1555575"/>
            <a:ext cx="1820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ubTitle" idx="4"/>
          </p:nvPr>
        </p:nvSpPr>
        <p:spPr>
          <a:xfrm>
            <a:off x="6176773" y="4041574"/>
            <a:ext cx="22869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5"/>
          </p:nvPr>
        </p:nvSpPr>
        <p:spPr>
          <a:xfrm>
            <a:off x="6176474" y="3533925"/>
            <a:ext cx="1820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6"/>
          </p:nvPr>
        </p:nvSpPr>
        <p:spPr>
          <a:xfrm>
            <a:off x="6176473" y="2066200"/>
            <a:ext cx="22872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 hasCustomPrompt="1"/>
          </p:nvPr>
        </p:nvSpPr>
        <p:spPr>
          <a:xfrm>
            <a:off x="5148700" y="1507075"/>
            <a:ext cx="993000" cy="10455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7"/>
          </p:nvPr>
        </p:nvSpPr>
        <p:spPr>
          <a:xfrm>
            <a:off x="2884625" y="1555575"/>
            <a:ext cx="1820100" cy="48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8"/>
          </p:nvPr>
        </p:nvSpPr>
        <p:spPr>
          <a:xfrm>
            <a:off x="2894094" y="2062300"/>
            <a:ext cx="22875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title" idx="9" hasCustomPrompt="1"/>
          </p:nvPr>
        </p:nvSpPr>
        <p:spPr>
          <a:xfrm>
            <a:off x="1886975" y="1507075"/>
            <a:ext cx="993000" cy="10455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 idx="13" hasCustomPrompt="1"/>
          </p:nvPr>
        </p:nvSpPr>
        <p:spPr>
          <a:xfrm>
            <a:off x="1886975" y="3411750"/>
            <a:ext cx="993000" cy="10455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5"/>
          <p:cNvSpPr txBox="1">
            <a:spLocks noGrp="1"/>
          </p:cNvSpPr>
          <p:nvPr>
            <p:ph type="title" idx="14" hasCustomPrompt="1"/>
          </p:nvPr>
        </p:nvSpPr>
        <p:spPr>
          <a:xfrm>
            <a:off x="5146725" y="3412800"/>
            <a:ext cx="996900" cy="10455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Rubik"/>
              <a:buNone/>
              <a:defRPr sz="3600">
                <a:latin typeface="Rubik"/>
                <a:ea typeface="Rubik"/>
                <a:cs typeface="Rubik"/>
                <a:sym typeface="Rubik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 idx="15"/>
          </p:nvPr>
        </p:nvSpPr>
        <p:spPr>
          <a:xfrm>
            <a:off x="711625" y="541930"/>
            <a:ext cx="77175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AND_BOD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713225" y="542050"/>
            <a:ext cx="7717500" cy="120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subTitle" idx="1"/>
          </p:nvPr>
        </p:nvSpPr>
        <p:spPr>
          <a:xfrm>
            <a:off x="2699375" y="1711195"/>
            <a:ext cx="3745200" cy="12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2711400" y="3638741"/>
            <a:ext cx="3721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, including icons by 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dk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98" name="Google Shape;98;p16"/>
          <p:cNvCxnSpPr/>
          <p:nvPr/>
        </p:nvCxnSpPr>
        <p:spPr>
          <a:xfrm>
            <a:off x="725125" y="-36875"/>
            <a:ext cx="0" cy="521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6"/>
          <p:cNvCxnSpPr/>
          <p:nvPr/>
        </p:nvCxnSpPr>
        <p:spPr>
          <a:xfrm>
            <a:off x="8433615" y="2454"/>
            <a:ext cx="0" cy="521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0" y="910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1"/>
          </p:nvPr>
        </p:nvSpPr>
        <p:spPr>
          <a:xfrm>
            <a:off x="716681" y="3270423"/>
            <a:ext cx="20550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2"/>
          </p:nvPr>
        </p:nvSpPr>
        <p:spPr>
          <a:xfrm>
            <a:off x="716662" y="3574276"/>
            <a:ext cx="20550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3545106" y="1870775"/>
            <a:ext cx="20538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4"/>
          </p:nvPr>
        </p:nvSpPr>
        <p:spPr>
          <a:xfrm>
            <a:off x="3544500" y="3575226"/>
            <a:ext cx="2055000" cy="5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5"/>
          </p:nvPr>
        </p:nvSpPr>
        <p:spPr>
          <a:xfrm>
            <a:off x="3544509" y="3269873"/>
            <a:ext cx="2055000" cy="38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6"/>
          </p:nvPr>
        </p:nvSpPr>
        <p:spPr>
          <a:xfrm>
            <a:off x="3545100" y="2172870"/>
            <a:ext cx="20538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7"/>
          </p:nvPr>
        </p:nvSpPr>
        <p:spPr>
          <a:xfrm>
            <a:off x="716675" y="1869975"/>
            <a:ext cx="20550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8"/>
          </p:nvPr>
        </p:nvSpPr>
        <p:spPr>
          <a:xfrm>
            <a:off x="716662" y="2172070"/>
            <a:ext cx="20550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9"/>
          </p:nvPr>
        </p:nvSpPr>
        <p:spPr>
          <a:xfrm>
            <a:off x="6372337" y="1869975"/>
            <a:ext cx="20550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13"/>
          </p:nvPr>
        </p:nvSpPr>
        <p:spPr>
          <a:xfrm>
            <a:off x="6372338" y="3574425"/>
            <a:ext cx="2055000" cy="5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14"/>
          </p:nvPr>
        </p:nvSpPr>
        <p:spPr>
          <a:xfrm>
            <a:off x="6372337" y="3269075"/>
            <a:ext cx="2055000" cy="38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5"/>
          </p:nvPr>
        </p:nvSpPr>
        <p:spPr>
          <a:xfrm>
            <a:off x="6372338" y="2172075"/>
            <a:ext cx="20550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0" y="910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0" y="3596200"/>
            <a:ext cx="9144000" cy="115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  <a:defRPr sz="3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Char char="●"/>
              <a:defRPr sz="1800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○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■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●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○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■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●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○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Char char="■"/>
              <a:defRPr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6" r:id="rId4"/>
    <p:sldLayoutId id="2147483659" r:id="rId5"/>
    <p:sldLayoutId id="2147483660" r:id="rId6"/>
    <p:sldLayoutId id="2147483661" r:id="rId7"/>
    <p:sldLayoutId id="2147483662" r:id="rId8"/>
    <p:sldLayoutId id="2147483665" r:id="rId9"/>
    <p:sldLayoutId id="2147483667" r:id="rId10"/>
    <p:sldLayoutId id="214748366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ctrTitle"/>
          </p:nvPr>
        </p:nvSpPr>
        <p:spPr>
          <a:xfrm>
            <a:off x="422550" y="3006150"/>
            <a:ext cx="8298900" cy="17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28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ỨNG DỤNG </a:t>
            </a:r>
            <a:r>
              <a:rPr lang="en-US" sz="28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RESTFUL API - DJANGO XÂY DỰNG HỆ THỐNG TRA CỨU XÉT TỐT NGHIỆP SINH VIÊN NGÀNH CNTT CHÍNH QUY</a:t>
            </a:r>
            <a:endParaRPr sz="280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57" name="Google Shape;157;p26"/>
          <p:cNvSpPr txBox="1">
            <a:spLocks noGrp="1"/>
          </p:cNvSpPr>
          <p:nvPr>
            <p:ph type="subTitle" idx="1"/>
          </p:nvPr>
        </p:nvSpPr>
        <p:spPr>
          <a:xfrm>
            <a:off x="1183500" y="2315100"/>
            <a:ext cx="6777000" cy="5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Nhóm 5 – Phan Trung Kiên - 23520805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31BF7-6C31-43DE-B4E0-E5B01352D508}"/>
              </a:ext>
            </a:extLst>
          </p:cNvPr>
          <p:cNvSpPr txBox="1"/>
          <p:nvPr/>
        </p:nvSpPr>
        <p:spPr>
          <a:xfrm>
            <a:off x="2257007" y="180999"/>
            <a:ext cx="4629986" cy="876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ĐẠI HỌC QUỐC GIA TP. HỒ CHÍ MINH</a:t>
            </a:r>
            <a:endParaRPr lang="en-US" sz="120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marL="0" marR="0" algn="ctr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1400" b="1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TRƯỜNG ĐẠI HỌC CÔNG NGHỆ THÔNG TIN</a:t>
            </a:r>
          </a:p>
          <a:p>
            <a:pPr marL="0" marR="0" algn="ctr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105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~ KHOA </a:t>
            </a:r>
            <a:r>
              <a:rPr lang="en-US" sz="105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KHOA</a:t>
            </a:r>
            <a:r>
              <a:rPr lang="en-US" sz="105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HỌC VÀ KỸ THUẬT THÔNG TIN ~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B86C0-69F5-0D0B-81AB-5BCD1EFA7137}"/>
              </a:ext>
            </a:extLst>
          </p:cNvPr>
          <p:cNvSpPr txBox="1"/>
          <p:nvPr/>
        </p:nvSpPr>
        <p:spPr>
          <a:xfrm>
            <a:off x="2257007" y="4770473"/>
            <a:ext cx="462998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b="1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IE221.Q22.CNVN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3B414-99B2-1FA0-9977-D9F0366B243E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1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1026" name="Picture 2" descr="Tra cứu hóa đơn điện tử - Phần mềm hóa đơn điện tử Fast e ...">
            <a:extLst>
              <a:ext uri="{FF2B5EF4-FFF2-40B4-BE49-F238E27FC236}">
                <a16:creationId xmlns:a16="http://schemas.microsoft.com/office/drawing/2014/main" id="{1243F2BE-6934-E4DE-257E-97C983326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280" y="1135481"/>
            <a:ext cx="1033439" cy="98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subTitle" idx="3"/>
          </p:nvPr>
        </p:nvSpPr>
        <p:spPr>
          <a:xfrm>
            <a:off x="6239974" y="1795875"/>
            <a:ext cx="1820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C343D"/>
                </a:solidFill>
                <a:effectLst/>
                <a:uLnTx/>
                <a:uFillTx/>
                <a:latin typeface="Google Sans" pitchFamily="2" charset="0"/>
                <a:ea typeface="Google Sans" pitchFamily="2" charset="0"/>
                <a:cs typeface="Google Sans" pitchFamily="2" charset="0"/>
                <a:sym typeface="Rubik"/>
              </a:rPr>
              <a:t>PHÂN TÍCH, THIẾT KẾ &amp; TRIỂN KHAI</a:t>
            </a:r>
            <a:endParaRPr sz="1200" dirty="0"/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3">
            <a:alphaModFix/>
          </a:blip>
          <a:srcRect l="14600" t="365" r="57298" b="-365"/>
          <a:stretch>
            <a:fillRect/>
          </a:stretch>
        </p:blipFill>
        <p:spPr>
          <a:xfrm>
            <a:off x="129850" y="1262025"/>
            <a:ext cx="1590725" cy="37736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5148700" y="1507075"/>
            <a:ext cx="993000" cy="10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 idx="9"/>
          </p:nvPr>
        </p:nvSpPr>
        <p:spPr>
          <a:xfrm>
            <a:off x="1886975" y="1507075"/>
            <a:ext cx="993000" cy="10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 idx="13"/>
          </p:nvPr>
        </p:nvSpPr>
        <p:spPr>
          <a:xfrm>
            <a:off x="1886975" y="3411750"/>
            <a:ext cx="993000" cy="10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title" idx="14"/>
          </p:nvPr>
        </p:nvSpPr>
        <p:spPr>
          <a:xfrm>
            <a:off x="5146725" y="3412800"/>
            <a:ext cx="996900" cy="1045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title" idx="15"/>
          </p:nvPr>
        </p:nvSpPr>
        <p:spPr>
          <a:xfrm>
            <a:off x="711625" y="541930"/>
            <a:ext cx="77175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NỘI DUNG</a:t>
            </a:r>
            <a:endParaRPr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6" name="Google Shape;168;p28">
            <a:extLst>
              <a:ext uri="{FF2B5EF4-FFF2-40B4-BE49-F238E27FC236}">
                <a16:creationId xmlns:a16="http://schemas.microsoft.com/office/drawing/2014/main" id="{E102EF9A-4696-2E90-B80D-E1A31FBFD5C3}"/>
              </a:ext>
            </a:extLst>
          </p:cNvPr>
          <p:cNvSpPr txBox="1">
            <a:spLocks/>
          </p:cNvSpPr>
          <p:nvPr/>
        </p:nvSpPr>
        <p:spPr>
          <a:xfrm>
            <a:off x="3046375" y="1801050"/>
            <a:ext cx="1820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indent="0"/>
            <a:r>
              <a:rPr lang="en-US" sz="1800" dirty="0">
                <a:solidFill>
                  <a:srgbClr val="0C343D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GIỚI THIỆU</a:t>
            </a:r>
            <a:endParaRPr lang="en-US" sz="1200" dirty="0"/>
          </a:p>
        </p:txBody>
      </p:sp>
      <p:sp>
        <p:nvSpPr>
          <p:cNvPr id="17" name="Google Shape;168;p28">
            <a:extLst>
              <a:ext uri="{FF2B5EF4-FFF2-40B4-BE49-F238E27FC236}">
                <a16:creationId xmlns:a16="http://schemas.microsoft.com/office/drawing/2014/main" id="{DD23BC14-94CE-5619-5FE0-9E939AA6E226}"/>
              </a:ext>
            </a:extLst>
          </p:cNvPr>
          <p:cNvSpPr txBox="1">
            <a:spLocks/>
          </p:cNvSpPr>
          <p:nvPr/>
        </p:nvSpPr>
        <p:spPr>
          <a:xfrm>
            <a:off x="3077275" y="3692250"/>
            <a:ext cx="1820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indent="0"/>
            <a:r>
              <a:rPr lang="en-US" sz="1800" dirty="0">
                <a:solidFill>
                  <a:srgbClr val="0C343D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KIỂM THỬ THỰC NGHIỆM</a:t>
            </a:r>
            <a:endParaRPr lang="en-US" sz="1200" dirty="0"/>
          </a:p>
        </p:txBody>
      </p:sp>
      <p:sp>
        <p:nvSpPr>
          <p:cNvPr id="18" name="Google Shape;168;p28">
            <a:extLst>
              <a:ext uri="{FF2B5EF4-FFF2-40B4-BE49-F238E27FC236}">
                <a16:creationId xmlns:a16="http://schemas.microsoft.com/office/drawing/2014/main" id="{98E9F088-F014-7F14-7423-2DBE6A34B78D}"/>
              </a:ext>
            </a:extLst>
          </p:cNvPr>
          <p:cNvSpPr txBox="1">
            <a:spLocks/>
          </p:cNvSpPr>
          <p:nvPr/>
        </p:nvSpPr>
        <p:spPr>
          <a:xfrm>
            <a:off x="6306125" y="3692250"/>
            <a:ext cx="1820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indent="0"/>
            <a:r>
              <a:rPr lang="en-US" sz="1800" dirty="0">
                <a:solidFill>
                  <a:srgbClr val="0C343D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KẾT LUẬN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A53E8D-07F0-90CC-CE78-C30F47239597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548058" y="1504237"/>
            <a:ext cx="7917948" cy="984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600" b="1" dirty="0" err="1"/>
              <a:t>Đặt</a:t>
            </a:r>
            <a:r>
              <a:rPr lang="en-US" sz="1600" b="1" dirty="0"/>
              <a:t> </a:t>
            </a:r>
            <a:r>
              <a:rPr lang="en-US" sz="1600" b="1" dirty="0" err="1"/>
              <a:t>vấn</a:t>
            </a:r>
            <a:r>
              <a:rPr lang="en-US" sz="1600" b="1" dirty="0"/>
              <a:t> </a:t>
            </a:r>
            <a:r>
              <a:rPr lang="en-US" sz="1600" b="1" dirty="0" err="1"/>
              <a:t>đề</a:t>
            </a:r>
            <a:r>
              <a:rPr lang="en-US" sz="1600" b="1" dirty="0"/>
              <a:t> &amp; </a:t>
            </a:r>
            <a:r>
              <a:rPr lang="en-US" sz="1600" b="1" dirty="0" err="1"/>
              <a:t>Mục</a:t>
            </a:r>
            <a:r>
              <a:rPr lang="en-US" sz="1600" b="1" dirty="0"/>
              <a:t> </a:t>
            </a:r>
            <a:r>
              <a:rPr lang="en-US" sz="1600" b="1" dirty="0" err="1"/>
              <a:t>tiêu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Xây</a:t>
            </a:r>
            <a:r>
              <a:rPr lang="en-US" sz="1600" dirty="0"/>
              <a:t> </a:t>
            </a:r>
            <a:r>
              <a:rPr lang="en-US" sz="1600" dirty="0" err="1"/>
              <a:t>dựng</a:t>
            </a:r>
            <a:r>
              <a:rPr lang="en-US" sz="1600" dirty="0"/>
              <a:t> </a:t>
            </a:r>
            <a:r>
              <a:rPr lang="en-US" sz="1600" dirty="0" err="1"/>
              <a:t>hệ</a:t>
            </a:r>
            <a:r>
              <a:rPr lang="en-US" sz="1600" dirty="0"/>
              <a:t> </a:t>
            </a:r>
            <a:r>
              <a:rPr lang="en-US" sz="1600" dirty="0" err="1"/>
              <a:t>thống</a:t>
            </a:r>
            <a:r>
              <a:rPr lang="en-US" sz="1600" dirty="0"/>
              <a:t> backend API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thẩm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điều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tốt</a:t>
            </a:r>
            <a:r>
              <a:rPr lang="en-US" sz="1600" dirty="0"/>
              <a:t> </a:t>
            </a:r>
            <a:r>
              <a:rPr lang="en-US" sz="1600" dirty="0" err="1"/>
              <a:t>nghiệp</a:t>
            </a:r>
            <a:r>
              <a:rPr lang="en-US" sz="1600" dirty="0"/>
              <a:t> </a:t>
            </a:r>
            <a:r>
              <a:rPr lang="en-US" sz="1600" dirty="0" err="1"/>
              <a:t>thô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sinh</a:t>
            </a:r>
            <a:r>
              <a:rPr lang="en-US" sz="1600" dirty="0"/>
              <a:t> </a:t>
            </a:r>
            <a:r>
              <a:rPr lang="en-US" sz="1600" dirty="0" err="1"/>
              <a:t>viên</a:t>
            </a:r>
            <a:r>
              <a:rPr lang="en-US" sz="1600" dirty="0"/>
              <a:t> </a:t>
            </a:r>
            <a:r>
              <a:rPr lang="en-US" sz="1600" dirty="0" err="1"/>
              <a:t>thay</a:t>
            </a:r>
            <a:r>
              <a:rPr lang="en-US" sz="1600" dirty="0"/>
              <a:t> </a:t>
            </a:r>
            <a:r>
              <a:rPr lang="en-US" sz="1600" dirty="0" err="1"/>
              <a:t>thế</a:t>
            </a:r>
            <a:r>
              <a:rPr lang="en-US" sz="1600" dirty="0"/>
              <a:t> </a:t>
            </a:r>
            <a:r>
              <a:rPr lang="en-US" sz="1600" dirty="0" err="1"/>
              <a:t>quy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rà</a:t>
            </a:r>
            <a:r>
              <a:rPr lang="en-US" sz="1600" dirty="0"/>
              <a:t> </a:t>
            </a:r>
            <a:r>
              <a:rPr lang="en-US" sz="1600" dirty="0" err="1"/>
              <a:t>soát</a:t>
            </a:r>
            <a:r>
              <a:rPr lang="en-US" sz="1600" dirty="0"/>
              <a:t> </a:t>
            </a:r>
            <a:r>
              <a:rPr lang="en-US" sz="1600" dirty="0" err="1"/>
              <a:t>thủ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.</a:t>
            </a:r>
          </a:p>
          <a:p>
            <a:pPr marL="285750" indent="-285750"/>
            <a:r>
              <a:rPr lang="en-US" sz="1600" b="1" dirty="0"/>
              <a:t>Công </a:t>
            </a:r>
            <a:r>
              <a:rPr lang="en-US" sz="1600" b="1" dirty="0" err="1"/>
              <a:t>nghệ</a:t>
            </a:r>
            <a:r>
              <a:rPr lang="en-US" sz="1600" b="1" dirty="0"/>
              <a:t> </a:t>
            </a:r>
            <a:r>
              <a:rPr lang="en-US" sz="1600" b="1" dirty="0" err="1"/>
              <a:t>và</a:t>
            </a:r>
            <a:r>
              <a:rPr lang="en-US" sz="1600" b="1" dirty="0"/>
              <a:t> </a:t>
            </a:r>
            <a:r>
              <a:rPr lang="en-US" sz="1600" b="1" dirty="0" err="1"/>
              <a:t>Giải</a:t>
            </a:r>
            <a:r>
              <a:rPr lang="en-US" sz="1600" b="1" dirty="0"/>
              <a:t> </a:t>
            </a:r>
            <a:r>
              <a:rPr lang="en-US" sz="1600" b="1" dirty="0" err="1"/>
              <a:t>pháp</a:t>
            </a:r>
            <a:r>
              <a:rPr lang="en-US" sz="1600" b="1" dirty="0"/>
              <a:t> </a:t>
            </a:r>
            <a:r>
              <a:rPr lang="en-US" sz="1600" b="1" dirty="0" err="1"/>
              <a:t>triển</a:t>
            </a:r>
            <a:r>
              <a:rPr lang="en-US" sz="1600" b="1" dirty="0"/>
              <a:t> </a:t>
            </a:r>
            <a:r>
              <a:rPr lang="en-US" sz="1600" b="1" dirty="0" err="1"/>
              <a:t>khai</a:t>
            </a:r>
            <a:r>
              <a:rPr lang="en-US" sz="1600" b="1" dirty="0"/>
              <a:t>:</a:t>
            </a:r>
            <a:endParaRPr sz="160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dirty="0"/>
              <a:t>01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GIỚI</a:t>
            </a:r>
            <a:r>
              <a:rPr lang="en" dirty="0"/>
              <a:t>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THIỆU</a:t>
            </a:r>
            <a:endParaRPr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31BAA3-ACFC-FC09-A994-CEBAF8998A64}"/>
              </a:ext>
            </a:extLst>
          </p:cNvPr>
          <p:cNvGrpSpPr/>
          <p:nvPr/>
        </p:nvGrpSpPr>
        <p:grpSpPr>
          <a:xfrm>
            <a:off x="2161145" y="2406650"/>
            <a:ext cx="4821710" cy="1252569"/>
            <a:chOff x="1333500" y="2406650"/>
            <a:chExt cx="4821710" cy="1252569"/>
          </a:xfrm>
        </p:grpSpPr>
        <p:pic>
          <p:nvPicPr>
            <p:cNvPr id="1026" name="Picture 2" descr="Python logo - free Icon PNG, SVG">
              <a:extLst>
                <a:ext uri="{FF2B5EF4-FFF2-40B4-BE49-F238E27FC236}">
                  <a16:creationId xmlns:a16="http://schemas.microsoft.com/office/drawing/2014/main" id="{3D30C900-1E71-2F75-7025-09FCCBFACC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3500" y="2571750"/>
              <a:ext cx="900113" cy="900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Django Rest Framework">
              <a:extLst>
                <a:ext uri="{FF2B5EF4-FFF2-40B4-BE49-F238E27FC236}">
                  <a16:creationId xmlns:a16="http://schemas.microsoft.com/office/drawing/2014/main" id="{5C34CD4A-1FA2-BDB0-50CC-5EDF95B3A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0960" y="2406650"/>
              <a:ext cx="2226790" cy="1252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Sqlite logo - free Icon PNG, SVG">
              <a:extLst>
                <a:ext uri="{FF2B5EF4-FFF2-40B4-BE49-F238E27FC236}">
                  <a16:creationId xmlns:a16="http://schemas.microsoft.com/office/drawing/2014/main" id="{31A9AC02-48F0-42DF-805E-1F46580A3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5097" y="2571749"/>
              <a:ext cx="900113" cy="900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37A9551-8D2E-FA0C-9DF2-EFDC7E301732}"/>
              </a:ext>
            </a:extLst>
          </p:cNvPr>
          <p:cNvSpPr txBox="1"/>
          <p:nvPr/>
        </p:nvSpPr>
        <p:spPr>
          <a:xfrm>
            <a:off x="713250" y="3775385"/>
            <a:ext cx="4131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Cùng</a:t>
            </a:r>
            <a:r>
              <a:rPr lang="en-US" sz="1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một</a:t>
            </a:r>
            <a:r>
              <a:rPr lang="en-US" sz="1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số</a:t>
            </a:r>
            <a:r>
              <a:rPr lang="en-US" sz="1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thư</a:t>
            </a:r>
            <a:r>
              <a:rPr lang="en-US" sz="1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viện</a:t>
            </a:r>
            <a:r>
              <a:rPr lang="en-US" sz="1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hỗ</a:t>
            </a:r>
            <a:r>
              <a:rPr lang="en-US" sz="1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trợ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django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-import-export (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nạp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dữ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liệu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từ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CSV)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drf-yasg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(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tài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liệu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Swagger UI)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endParaRPr lang="en-US" sz="140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1CA99-2DF2-2D6A-9460-BCF73FE06E1B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Mô tả cơ sở dữ liệu</a:t>
            </a:r>
            <a:r>
              <a:rPr lang="en" sz="2000" dirty="0"/>
              <a:t> </a:t>
            </a:r>
            <a:endParaRPr sz="2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CEB360F-68CF-C77D-EF3D-EE6F7C4F8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574" y="1336911"/>
            <a:ext cx="5518852" cy="3578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9D1347C-7B40-CA04-D626-E534969836E3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9" name="Google Shape;279;p33"/>
          <p:cNvCxnSpPr/>
          <p:nvPr/>
        </p:nvCxnSpPr>
        <p:spPr>
          <a:xfrm>
            <a:off x="45575" y="2885975"/>
            <a:ext cx="5650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1" name="Google Shape;281;p33"/>
          <p:cNvPicPr preferRelativeResize="0"/>
          <p:nvPr/>
        </p:nvPicPr>
        <p:blipFill>
          <a:blip r:embed="rId3">
            <a:alphaModFix/>
          </a:blip>
          <a:srcRect l="-130" t="168" r="-3510"/>
          <a:stretch>
            <a:fillRect/>
          </a:stretch>
        </p:blipFill>
        <p:spPr>
          <a:xfrm>
            <a:off x="3978875" y="123572"/>
            <a:ext cx="5058033" cy="489327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2" name="Google Shape;282;p33"/>
          <p:cNvSpPr txBox="1">
            <a:spLocks noGrp="1"/>
          </p:cNvSpPr>
          <p:nvPr>
            <p:ph type="body" idx="1"/>
          </p:nvPr>
        </p:nvSpPr>
        <p:spPr>
          <a:xfrm>
            <a:off x="-260270" y="2366171"/>
            <a:ext cx="4544990" cy="411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Clr>
                <a:schemeClr val="dk2"/>
              </a:buClr>
              <a:buSzPts val="1100"/>
              <a:buNone/>
            </a:pPr>
            <a:r>
              <a:rPr lang="en" sz="16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 yêu cầu &amp; Sơ đồ Use Case</a:t>
            </a:r>
            <a:endParaRPr sz="1600" dirty="0"/>
          </a:p>
        </p:txBody>
      </p:sp>
      <p:sp>
        <p:nvSpPr>
          <p:cNvPr id="4" name="Google Shape;201;p31">
            <a:extLst>
              <a:ext uri="{FF2B5EF4-FFF2-40B4-BE49-F238E27FC236}">
                <a16:creationId xmlns:a16="http://schemas.microsoft.com/office/drawing/2014/main" id="{623CD26B-0FE9-C77F-4A8D-511EAF61F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378" y="1532690"/>
            <a:ext cx="3301076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02 </a:t>
            </a:r>
            <a:r>
              <a:rPr lang="en" sz="32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sz="4000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32A8D-0FED-A42A-8330-4876125CD27E}"/>
              </a:ext>
            </a:extLst>
          </p:cNvPr>
          <p:cNvSpPr txBox="1"/>
          <p:nvPr/>
        </p:nvSpPr>
        <p:spPr>
          <a:xfrm>
            <a:off x="218436" y="3599606"/>
            <a:ext cx="3587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Tác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nhân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hệ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thống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: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Phân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rã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hai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nhóm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đối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tượng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tương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tác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cốt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lõi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F93E1-B401-9CA2-DA43-6773C51F6C0F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46A3B891-B74E-4590-C761-AEF9382A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>
            <a:extLst>
              <a:ext uri="{FF2B5EF4-FFF2-40B4-BE49-F238E27FC236}">
                <a16:creationId xmlns:a16="http://schemas.microsoft.com/office/drawing/2014/main" id="{941A1946-D98F-376C-385D-48A1910B4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Sơ đồ lớp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2220AC-9F14-65B7-11FC-B647E1661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62355"/>
            <a:ext cx="7315200" cy="3084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CE9B1F-7CC9-7616-4833-6EFC4025BA77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9294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B59AC4B8-A02F-72F0-0291-EA1461AD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>
            <a:extLst>
              <a:ext uri="{FF2B5EF4-FFF2-40B4-BE49-F238E27FC236}">
                <a16:creationId xmlns:a16="http://schemas.microsoft.com/office/drawing/2014/main" id="{8073AD70-9F44-CA98-1CCB-3724C2EDD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Kiến trúc hệ thống Backend – Tổng quan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900E6-7A57-BE8C-B9D6-6D99C391901D}"/>
              </a:ext>
            </a:extLst>
          </p:cNvPr>
          <p:cNvSpPr txBox="1"/>
          <p:nvPr/>
        </p:nvSpPr>
        <p:spPr>
          <a:xfrm>
            <a:off x="440685" y="1806614"/>
            <a:ext cx="730268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IE221/</a:t>
            </a: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│</a:t>
            </a: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├──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mysite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/</a:t>
            </a: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│   ├── settings.py      ←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Cấu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hình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CSDL SQLite, REST Framework,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khai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báo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các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app</a:t>
            </a: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│   ├── urls.py           ←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Kết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nối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định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tuyến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chính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của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hệ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thống</a:t>
            </a:r>
            <a:endParaRPr lang="en-US" sz="140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│</a:t>
            </a: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├── </a:t>
            </a:r>
            <a:r>
              <a:rPr lang="en-US" sz="1400" dirty="0">
                <a:solidFill>
                  <a:srgbClr val="C00000"/>
                </a:solidFill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graduation/           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← Module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xử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lý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nghiệp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vụ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xét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tốt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nghiệp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chính</a:t>
            </a:r>
            <a:endParaRPr lang="en-US" sz="140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├── db.sqlite3            ←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Cơ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sở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dữ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liệu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cục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bộ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SQLite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của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hệ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thống</a:t>
            </a:r>
            <a:endParaRPr lang="en-US" sz="140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marL="0" marR="0" algn="just">
              <a:spcAft>
                <a:spcPts val="600"/>
              </a:spcAft>
              <a:buNone/>
            </a:pP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├── manage.py             ←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Chạy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server, </a:t>
            </a:r>
            <a:r>
              <a:rPr lang="en-US" sz="1400" dirty="0" err="1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tạo</a:t>
            </a:r>
            <a:r>
              <a:rPr lang="en-US" sz="140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 migrations, 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8C1B6-3A53-FD57-8FC6-21CDBD14CFB0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352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507ED90F-66A0-042E-C09F-EDB1FBE5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>
            <a:extLst>
              <a:ext uri="{FF2B5EF4-FFF2-40B4-BE49-F238E27FC236}">
                <a16:creationId xmlns:a16="http://schemas.microsoft.com/office/drawing/2014/main" id="{CC0612C8-9298-F8AD-AB64-47B8C3E38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Kiến trúc hệ thống Backend - Module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1BE1F-C130-DBDB-6B1E-1D115B6C5B40}"/>
              </a:ext>
            </a:extLst>
          </p:cNvPr>
          <p:cNvSpPr txBox="1"/>
          <p:nvPr/>
        </p:nvSpPr>
        <p:spPr>
          <a:xfrm>
            <a:off x="273772" y="1342157"/>
            <a:ext cx="69978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├── graduation/ </a:t>
            </a:r>
          </a:p>
          <a:p>
            <a:r>
              <a:rPr lang="en-US" dirty="0"/>
              <a:t>│   ├── migrations/ </a:t>
            </a:r>
          </a:p>
          <a:p>
            <a:r>
              <a:rPr lang="en-US" dirty="0"/>
              <a:t>│   ├── templates/ </a:t>
            </a:r>
          </a:p>
          <a:p>
            <a:r>
              <a:rPr lang="en-US" dirty="0"/>
              <a:t>│   │   └── graduation/ ← Thư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front-end</a:t>
            </a:r>
          </a:p>
          <a:p>
            <a:r>
              <a:rPr lang="en-US" dirty="0"/>
              <a:t>│   │       ├── dang_ky.html ← 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r>
              <a:rPr lang="en-US" dirty="0"/>
              <a:t>│   │       ├── dang_nhap.html ← 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r>
              <a:rPr lang="en-US" dirty="0"/>
              <a:t>│   │       ├── dashboard.html ← 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/>
              <a:t>│   │       ├── ket_qua.html ← 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chi </a:t>
            </a:r>
            <a:r>
              <a:rPr lang="en-US" dirty="0" err="1"/>
              <a:t>tiết</a:t>
            </a:r>
            <a:endParaRPr lang="en-US" dirty="0"/>
          </a:p>
          <a:p>
            <a:r>
              <a:rPr lang="en-US" dirty="0"/>
              <a:t>│   │       └── tra_cuu.html ← 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,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│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</a:rPr>
              <a:t>├── admin.py ← </a:t>
            </a:r>
            <a:r>
              <a:rPr lang="en-US" dirty="0" err="1">
                <a:solidFill>
                  <a:srgbClr val="C00000"/>
                </a:solidFill>
              </a:rPr>
              <a:t>Cấu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hình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giao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diện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trang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quản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trị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của</a:t>
            </a:r>
            <a:r>
              <a:rPr lang="en-US" dirty="0">
                <a:solidFill>
                  <a:srgbClr val="C00000"/>
                </a:solidFill>
              </a:rPr>
              <a:t> Admin</a:t>
            </a:r>
          </a:p>
          <a:p>
            <a:r>
              <a:rPr lang="en-US" dirty="0">
                <a:solidFill>
                  <a:srgbClr val="C00000"/>
                </a:solidFill>
              </a:rPr>
              <a:t>│   ├── apps.py ← Khai </a:t>
            </a:r>
            <a:r>
              <a:rPr lang="en-US" dirty="0" err="1">
                <a:solidFill>
                  <a:srgbClr val="C00000"/>
                </a:solidFill>
              </a:rPr>
              <a:t>báo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và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cấu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hình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thông</a:t>
            </a:r>
            <a:r>
              <a:rPr lang="en-US" dirty="0">
                <a:solidFill>
                  <a:srgbClr val="C00000"/>
                </a:solidFill>
              </a:rPr>
              <a:t> tin </a:t>
            </a:r>
            <a:r>
              <a:rPr lang="en-US" dirty="0" err="1">
                <a:solidFill>
                  <a:srgbClr val="C00000"/>
                </a:solidFill>
              </a:rPr>
              <a:t>mô-đun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ứng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dụng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│   ├── models.py ← Định </a:t>
            </a:r>
            <a:r>
              <a:rPr lang="en-US" dirty="0" err="1">
                <a:solidFill>
                  <a:srgbClr val="C00000"/>
                </a:solidFill>
              </a:rPr>
              <a:t>nghĩa</a:t>
            </a:r>
            <a:r>
              <a:rPr lang="en-US" dirty="0">
                <a:solidFill>
                  <a:srgbClr val="C00000"/>
                </a:solidFill>
              </a:rPr>
              <a:t> model </a:t>
            </a:r>
            <a:r>
              <a:rPr lang="en-US" dirty="0" err="1">
                <a:solidFill>
                  <a:srgbClr val="C00000"/>
                </a:solidFill>
              </a:rPr>
              <a:t>cho</a:t>
            </a:r>
            <a:r>
              <a:rPr lang="en-US" dirty="0">
                <a:solidFill>
                  <a:srgbClr val="C00000"/>
                </a:solidFill>
              </a:rPr>
              <a:t> module </a:t>
            </a:r>
            <a:r>
              <a:rPr lang="en-US" dirty="0" err="1">
                <a:solidFill>
                  <a:srgbClr val="C00000"/>
                </a:solidFill>
              </a:rPr>
              <a:t>theo</a:t>
            </a:r>
            <a:r>
              <a:rPr lang="en-US" dirty="0">
                <a:solidFill>
                  <a:srgbClr val="C00000"/>
                </a:solidFill>
              </a:rPr>
              <a:t> CSDL</a:t>
            </a:r>
          </a:p>
          <a:p>
            <a:r>
              <a:rPr lang="en-US" dirty="0">
                <a:solidFill>
                  <a:srgbClr val="C00000"/>
                </a:solidFill>
              </a:rPr>
              <a:t>│   ├── services.py ← </a:t>
            </a:r>
            <a:r>
              <a:rPr lang="en-US" dirty="0" err="1">
                <a:solidFill>
                  <a:srgbClr val="C00000"/>
                </a:solidFill>
              </a:rPr>
              <a:t>Tầng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chứa</a:t>
            </a:r>
            <a:r>
              <a:rPr lang="en-US" dirty="0">
                <a:solidFill>
                  <a:srgbClr val="C00000"/>
                </a:solidFill>
              </a:rPr>
              <a:t> logic </a:t>
            </a:r>
            <a:r>
              <a:rPr lang="en-US" dirty="0" err="1">
                <a:solidFill>
                  <a:srgbClr val="C00000"/>
                </a:solidFill>
              </a:rPr>
              <a:t>thuật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toán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kiểm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duyệt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nghiệp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vụ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ngầm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│   ├── tests.py ← </a:t>
            </a:r>
            <a:r>
              <a:rPr lang="en-US" dirty="0" err="1">
                <a:solidFill>
                  <a:srgbClr val="C00000"/>
                </a:solidFill>
              </a:rPr>
              <a:t>Viết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các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kịch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bản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kiểm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thử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mã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nguồn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tự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động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│   ├── urls.py ← Định </a:t>
            </a:r>
            <a:r>
              <a:rPr lang="en-US" dirty="0" err="1">
                <a:solidFill>
                  <a:srgbClr val="C00000"/>
                </a:solidFill>
              </a:rPr>
              <a:t>nghĩa</a:t>
            </a:r>
            <a:r>
              <a:rPr lang="en-US" dirty="0">
                <a:solidFill>
                  <a:srgbClr val="C00000"/>
                </a:solidFill>
              </a:rPr>
              <a:t> URL patterns </a:t>
            </a:r>
            <a:r>
              <a:rPr lang="en-US" dirty="0" err="1">
                <a:solidFill>
                  <a:srgbClr val="C00000"/>
                </a:solidFill>
              </a:rPr>
              <a:t>cho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các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chức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năng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của</a:t>
            </a:r>
            <a:r>
              <a:rPr lang="en-US" dirty="0">
                <a:solidFill>
                  <a:srgbClr val="C00000"/>
                </a:solidFill>
              </a:rPr>
              <a:t> module</a:t>
            </a:r>
          </a:p>
          <a:p>
            <a:r>
              <a:rPr lang="en-US" dirty="0">
                <a:solidFill>
                  <a:srgbClr val="C00000"/>
                </a:solidFill>
              </a:rPr>
              <a:t>│   └── views.py ← Logic </a:t>
            </a:r>
            <a:r>
              <a:rPr lang="en-US" dirty="0" err="1">
                <a:solidFill>
                  <a:srgbClr val="C00000"/>
                </a:solidFill>
              </a:rPr>
              <a:t>xử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lý</a:t>
            </a:r>
            <a:r>
              <a:rPr lang="en-US" dirty="0">
                <a:solidFill>
                  <a:srgbClr val="C00000"/>
                </a:solidFill>
              </a:rPr>
              <a:t> API endpoints </a:t>
            </a:r>
            <a:r>
              <a:rPr lang="en-US" dirty="0" err="1">
                <a:solidFill>
                  <a:srgbClr val="C00000"/>
                </a:solidFill>
              </a:rPr>
              <a:t>và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điều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phối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dữ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liệu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lên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giao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diện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80FE2D-8E79-3B07-5737-5B04F17F2039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8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27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FE4205E-3011-3C30-7FB0-36AF7D02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198D83CA-052B-DEC2-41B5-2F39F4CA000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114621" y="4320553"/>
            <a:ext cx="1821925" cy="327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/auth/register/</a:t>
            </a:r>
            <a:endParaRPr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201;p31">
            <a:extLst>
              <a:ext uri="{FF2B5EF4-FFF2-40B4-BE49-F238E27FC236}">
                <a16:creationId xmlns:a16="http://schemas.microsoft.com/office/drawing/2014/main" id="{C50EC30F-6189-4846-5839-1180149678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02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Kiến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trúc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triển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khai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&amp; Danh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sách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API</a:t>
            </a:r>
            <a:endParaRPr sz="2000" b="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39FAA-CB67-9026-05B3-8EB1CFC8B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927" y="1377306"/>
            <a:ext cx="4629796" cy="159089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774CAEF-5C96-04A8-C6B3-86D32D544381}"/>
              </a:ext>
            </a:extLst>
          </p:cNvPr>
          <p:cNvGrpSpPr/>
          <p:nvPr/>
        </p:nvGrpSpPr>
        <p:grpSpPr>
          <a:xfrm>
            <a:off x="1093462" y="4142913"/>
            <a:ext cx="924625" cy="666900"/>
            <a:chOff x="614491" y="4134962"/>
            <a:chExt cx="924625" cy="666900"/>
          </a:xfrm>
        </p:grpSpPr>
        <p:sp>
          <p:nvSpPr>
            <p:cNvPr id="203" name="Google Shape;203;p31">
              <a:extLst>
                <a:ext uri="{FF2B5EF4-FFF2-40B4-BE49-F238E27FC236}">
                  <a16:creationId xmlns:a16="http://schemas.microsoft.com/office/drawing/2014/main" id="{B91FD63A-10A2-70C7-AA98-31F77E76F888}"/>
                </a:ext>
              </a:extLst>
            </p:cNvPr>
            <p:cNvSpPr/>
            <p:nvPr/>
          </p:nvSpPr>
          <p:spPr>
            <a:xfrm>
              <a:off x="711025" y="4134962"/>
              <a:ext cx="724800" cy="666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5;p31">
              <a:extLst>
                <a:ext uri="{FF2B5EF4-FFF2-40B4-BE49-F238E27FC236}">
                  <a16:creationId xmlns:a16="http://schemas.microsoft.com/office/drawing/2014/main" id="{04EC2C80-DBDA-EB2B-9E4E-2EBBFFFFD15C}"/>
                </a:ext>
              </a:extLst>
            </p:cNvPr>
            <p:cNvSpPr txBox="1">
              <a:spLocks/>
            </p:cNvSpPr>
            <p:nvPr/>
          </p:nvSpPr>
          <p:spPr>
            <a:xfrm>
              <a:off x="614491" y="4235274"/>
              <a:ext cx="924625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9pPr>
            </a:lstStyle>
            <a:p>
              <a:pPr marL="0" indent="0" algn="ctr"/>
              <a:r>
                <a:rPr lang="en-US" dirty="0">
                  <a:solidFill>
                    <a:srgbClr val="FFC000"/>
                  </a:solidFill>
                </a:rPr>
                <a:t>POST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7BE75B6-31FD-DADA-A2D7-90123FB99FA0}"/>
              </a:ext>
            </a:extLst>
          </p:cNvPr>
          <p:cNvGrpSpPr/>
          <p:nvPr/>
        </p:nvGrpSpPr>
        <p:grpSpPr>
          <a:xfrm>
            <a:off x="1189996" y="3114656"/>
            <a:ext cx="724800" cy="666900"/>
            <a:chOff x="711025" y="3106705"/>
            <a:chExt cx="724800" cy="666900"/>
          </a:xfrm>
        </p:grpSpPr>
        <p:sp>
          <p:nvSpPr>
            <p:cNvPr id="18" name="Google Shape;205;p31">
              <a:extLst>
                <a:ext uri="{FF2B5EF4-FFF2-40B4-BE49-F238E27FC236}">
                  <a16:creationId xmlns:a16="http://schemas.microsoft.com/office/drawing/2014/main" id="{7B684159-FC69-2A1A-41DE-784AD94125AF}"/>
                </a:ext>
              </a:extLst>
            </p:cNvPr>
            <p:cNvSpPr txBox="1">
              <a:spLocks/>
            </p:cNvSpPr>
            <p:nvPr/>
          </p:nvSpPr>
          <p:spPr>
            <a:xfrm>
              <a:off x="711026" y="3201955"/>
              <a:ext cx="724799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9pPr>
            </a:lstStyle>
            <a:p>
              <a:pPr marL="0" indent="0" algn="ctr"/>
              <a:r>
                <a:rPr lang="en-US" dirty="0"/>
                <a:t>GET</a:t>
              </a:r>
            </a:p>
          </p:txBody>
        </p:sp>
        <p:sp>
          <p:nvSpPr>
            <p:cNvPr id="21" name="Google Shape;202;p31">
              <a:extLst>
                <a:ext uri="{FF2B5EF4-FFF2-40B4-BE49-F238E27FC236}">
                  <a16:creationId xmlns:a16="http://schemas.microsoft.com/office/drawing/2014/main" id="{753A91C5-7DDE-D7D3-C987-E6B50B52F4A8}"/>
                </a:ext>
              </a:extLst>
            </p:cNvPr>
            <p:cNvSpPr/>
            <p:nvPr/>
          </p:nvSpPr>
          <p:spPr>
            <a:xfrm>
              <a:off x="711025" y="3106705"/>
              <a:ext cx="724800" cy="666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08;p31">
            <a:extLst>
              <a:ext uri="{FF2B5EF4-FFF2-40B4-BE49-F238E27FC236}">
                <a16:creationId xmlns:a16="http://schemas.microsoft.com/office/drawing/2014/main" id="{5FB9F46D-A35E-36FC-8AD4-D0702D91C9B2}"/>
              </a:ext>
            </a:extLst>
          </p:cNvPr>
          <p:cNvSpPr txBox="1">
            <a:spLocks/>
          </p:cNvSpPr>
          <p:nvPr/>
        </p:nvSpPr>
        <p:spPr>
          <a:xfrm>
            <a:off x="6140159" y="4320553"/>
            <a:ext cx="1821925" cy="32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/auth/login/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806887-2674-6BF4-FF3D-EBDD36FAD366}"/>
              </a:ext>
            </a:extLst>
          </p:cNvPr>
          <p:cNvGrpSpPr/>
          <p:nvPr/>
        </p:nvGrpSpPr>
        <p:grpSpPr>
          <a:xfrm>
            <a:off x="5119000" y="4142913"/>
            <a:ext cx="924625" cy="666900"/>
            <a:chOff x="614491" y="4134962"/>
            <a:chExt cx="924625" cy="666900"/>
          </a:xfrm>
        </p:grpSpPr>
        <p:sp>
          <p:nvSpPr>
            <p:cNvPr id="27" name="Google Shape;203;p31">
              <a:extLst>
                <a:ext uri="{FF2B5EF4-FFF2-40B4-BE49-F238E27FC236}">
                  <a16:creationId xmlns:a16="http://schemas.microsoft.com/office/drawing/2014/main" id="{3F53AC07-7267-F022-051F-4DBD394B7D80}"/>
                </a:ext>
              </a:extLst>
            </p:cNvPr>
            <p:cNvSpPr/>
            <p:nvPr/>
          </p:nvSpPr>
          <p:spPr>
            <a:xfrm>
              <a:off x="711025" y="4134962"/>
              <a:ext cx="724800" cy="666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5;p31">
              <a:extLst>
                <a:ext uri="{FF2B5EF4-FFF2-40B4-BE49-F238E27FC236}">
                  <a16:creationId xmlns:a16="http://schemas.microsoft.com/office/drawing/2014/main" id="{532DF7EE-5449-1AB2-6744-9371781B1F81}"/>
                </a:ext>
              </a:extLst>
            </p:cNvPr>
            <p:cNvSpPr txBox="1">
              <a:spLocks/>
            </p:cNvSpPr>
            <p:nvPr/>
          </p:nvSpPr>
          <p:spPr>
            <a:xfrm>
              <a:off x="614491" y="4235274"/>
              <a:ext cx="924625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9pPr>
            </a:lstStyle>
            <a:p>
              <a:pPr marL="0" indent="0" algn="ctr"/>
              <a:r>
                <a:rPr lang="en-US" dirty="0">
                  <a:solidFill>
                    <a:srgbClr val="FFC000"/>
                  </a:solidFill>
                </a:rPr>
                <a:t>POST</a:t>
              </a:r>
            </a:p>
          </p:txBody>
        </p:sp>
      </p:grpSp>
      <p:sp>
        <p:nvSpPr>
          <p:cNvPr id="29" name="Google Shape;208;p31">
            <a:extLst>
              <a:ext uri="{FF2B5EF4-FFF2-40B4-BE49-F238E27FC236}">
                <a16:creationId xmlns:a16="http://schemas.microsoft.com/office/drawing/2014/main" id="{B8193BD9-CB35-EF5A-6544-B0AF5D0ED291}"/>
              </a:ext>
            </a:extLst>
          </p:cNvPr>
          <p:cNvSpPr txBox="1">
            <a:spLocks/>
          </p:cNvSpPr>
          <p:nvPr/>
        </p:nvSpPr>
        <p:spPr>
          <a:xfrm>
            <a:off x="2114619" y="3210965"/>
            <a:ext cx="2769437" cy="39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-tot-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nghiep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sv_id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A364DE-8698-4A8F-4AD4-80C40FA08A92}"/>
              </a:ext>
            </a:extLst>
          </p:cNvPr>
          <p:cNvGrpSpPr/>
          <p:nvPr/>
        </p:nvGrpSpPr>
        <p:grpSpPr>
          <a:xfrm>
            <a:off x="5193142" y="3019232"/>
            <a:ext cx="724800" cy="666900"/>
            <a:chOff x="711025" y="3106705"/>
            <a:chExt cx="724800" cy="666900"/>
          </a:xfrm>
        </p:grpSpPr>
        <p:sp>
          <p:nvSpPr>
            <p:cNvPr id="31" name="Google Shape;205;p31">
              <a:extLst>
                <a:ext uri="{FF2B5EF4-FFF2-40B4-BE49-F238E27FC236}">
                  <a16:creationId xmlns:a16="http://schemas.microsoft.com/office/drawing/2014/main" id="{3ED6431A-807B-C559-C2D9-6FE25B172D10}"/>
                </a:ext>
              </a:extLst>
            </p:cNvPr>
            <p:cNvSpPr txBox="1">
              <a:spLocks/>
            </p:cNvSpPr>
            <p:nvPr/>
          </p:nvSpPr>
          <p:spPr>
            <a:xfrm>
              <a:off x="711026" y="3201955"/>
              <a:ext cx="724799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chivo"/>
                <a:buNone/>
                <a:defRPr sz="2000" b="1" i="0" u="none" strike="noStrike" cap="none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defRPr>
              </a:lvl9pPr>
            </a:lstStyle>
            <a:p>
              <a:pPr marL="0" indent="0" algn="ctr"/>
              <a:r>
                <a:rPr lang="en-US" dirty="0"/>
                <a:t>GET</a:t>
              </a:r>
            </a:p>
          </p:txBody>
        </p:sp>
        <p:sp>
          <p:nvSpPr>
            <p:cNvPr id="32" name="Google Shape;202;p31">
              <a:extLst>
                <a:ext uri="{FF2B5EF4-FFF2-40B4-BE49-F238E27FC236}">
                  <a16:creationId xmlns:a16="http://schemas.microsoft.com/office/drawing/2014/main" id="{31621040-B619-4EBB-C93D-B97F144D7F7C}"/>
                </a:ext>
              </a:extLst>
            </p:cNvPr>
            <p:cNvSpPr/>
            <p:nvPr/>
          </p:nvSpPr>
          <p:spPr>
            <a:xfrm>
              <a:off x="711025" y="3106705"/>
              <a:ext cx="724800" cy="666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08;p31">
            <a:extLst>
              <a:ext uri="{FF2B5EF4-FFF2-40B4-BE49-F238E27FC236}">
                <a16:creationId xmlns:a16="http://schemas.microsoft.com/office/drawing/2014/main" id="{D52D14E3-B4D4-8FA4-4100-E26D38966CF2}"/>
              </a:ext>
            </a:extLst>
          </p:cNvPr>
          <p:cNvSpPr txBox="1">
            <a:spLocks/>
          </p:cNvSpPr>
          <p:nvPr/>
        </p:nvSpPr>
        <p:spPr>
          <a:xfrm>
            <a:off x="6140160" y="3224106"/>
            <a:ext cx="2290466" cy="32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/dashboard/summary/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A943CD-AFFD-BD47-063B-4CA2DA7A9C9D}"/>
              </a:ext>
            </a:extLst>
          </p:cNvPr>
          <p:cNvSpPr txBox="1"/>
          <p:nvPr/>
        </p:nvSpPr>
        <p:spPr>
          <a:xfrm>
            <a:off x="8721450" y="4770409"/>
            <a:ext cx="316694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9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65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1;p31">
            <a:extLst>
              <a:ext uri="{FF2B5EF4-FFF2-40B4-BE49-F238E27FC236}">
                <a16:creationId xmlns:a16="http://schemas.microsoft.com/office/drawing/2014/main" id="{9B5ED3A0-4F99-7E11-5D9F-BCECD43F0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02 </a:t>
            </a:r>
            <a: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PHÂN TÍCH, THIẾT KẾ &amp; TRIỂN KHAI</a:t>
            </a:r>
            <a:br>
              <a:rPr lang="en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Tính năng “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Thẩm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định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tốt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nghiệp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tự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b="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động</a:t>
            </a:r>
            <a:r>
              <a:rPr lang="en-US" sz="2000" b="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”</a:t>
            </a:r>
            <a:endParaRPr sz="2000" b="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CC7D33-BBE8-E414-07BF-71E0E97AC23E}"/>
              </a:ext>
            </a:extLst>
          </p:cNvPr>
          <p:cNvSpPr txBox="1"/>
          <p:nvPr/>
        </p:nvSpPr>
        <p:spPr>
          <a:xfrm>
            <a:off x="1144866" y="1499382"/>
            <a:ext cx="6851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Trực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tiếp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thực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thi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thuật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toán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giải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quyết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bài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toán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điểm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học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cải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thiện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/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học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lại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bằng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toán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tử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SQL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thuần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,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giữ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lại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đầu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điểm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MAX(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diem_so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)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cao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nhất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để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tính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toán</a:t>
            </a:r>
            <a:r>
              <a:rPr lang="en-US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. 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52648EE6-53CF-E232-054B-9549ED320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68" y="2335956"/>
            <a:ext cx="8234404" cy="220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Logic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quét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6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điều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kiện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chặn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Quét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mốc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tổng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chỉ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lũy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tối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thiểu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125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chỉ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mục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học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bắt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buộc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của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ngành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Thẩm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định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chuẩn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đầu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Ngoại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(Anh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 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Chứng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chỉ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nộp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ngoài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duyệt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hoàn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thành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duyệt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hoàn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thành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quốc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phòng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Thẩm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định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điều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rèn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luyện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84BA27-5971-58DD-AD5E-6FC70D7F5EBC}"/>
              </a:ext>
            </a:extLst>
          </p:cNvPr>
          <p:cNvSpPr txBox="1"/>
          <p:nvPr/>
        </p:nvSpPr>
        <p:spPr>
          <a:xfrm>
            <a:off x="8666728" y="4770409"/>
            <a:ext cx="37141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10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C1E85D57-79C2-4070-54DC-347AF8B8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>
            <a:extLst>
              <a:ext uri="{FF2B5EF4-FFF2-40B4-BE49-F238E27FC236}">
                <a16:creationId xmlns:a16="http://schemas.microsoft.com/office/drawing/2014/main" id="{51695DB7-8FDF-C676-113E-F33EB5DBDA70}"/>
              </a:ext>
            </a:extLst>
          </p:cNvPr>
          <p:cNvSpPr/>
          <p:nvPr/>
        </p:nvSpPr>
        <p:spPr>
          <a:xfrm>
            <a:off x="259917" y="1351067"/>
            <a:ext cx="708900" cy="876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2">
            <a:extLst>
              <a:ext uri="{FF2B5EF4-FFF2-40B4-BE49-F238E27FC236}">
                <a16:creationId xmlns:a16="http://schemas.microsoft.com/office/drawing/2014/main" id="{1D01B07F-1491-D1A9-F361-3E8C003EC46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29082" y="1351067"/>
            <a:ext cx="3928443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Kiểm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thử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thủ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công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(Postman)</a:t>
            </a:r>
            <a:endParaRPr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" name="Google Shape;201;p31">
            <a:extLst>
              <a:ext uri="{FF2B5EF4-FFF2-40B4-BE49-F238E27FC236}">
                <a16:creationId xmlns:a16="http://schemas.microsoft.com/office/drawing/2014/main" id="{1BB81091-D544-98D6-23A6-7C4C55F07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03 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KIỂM THỬ THỰC NGHIỆM</a:t>
            </a:r>
            <a:endParaRPr sz="2000" b="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3074" name="Picture 2" descr="Postman Icon SVG Vector &amp; PNG Free Download | UXWing">
            <a:extLst>
              <a:ext uri="{FF2B5EF4-FFF2-40B4-BE49-F238E27FC236}">
                <a16:creationId xmlns:a16="http://schemas.microsoft.com/office/drawing/2014/main" id="{2682B0D4-3EBF-2860-B41E-1B58329B4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89" y="1487895"/>
            <a:ext cx="602343" cy="6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6DC3C6-C893-B244-3196-3B07ADC14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011" y="1882864"/>
            <a:ext cx="3054531" cy="13777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CB9DE1-7152-B82E-E335-DB9437AE2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497" y="1882864"/>
            <a:ext cx="3664131" cy="1483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44FE31-F6F1-71F9-E0EA-A66962C5C0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010" y="3467608"/>
            <a:ext cx="3054531" cy="1446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5CCCC2-43EE-72DB-DA4D-4AD4B92A85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497" y="3482947"/>
            <a:ext cx="3664131" cy="1431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A4DE47-7E84-54BB-97E6-87B3563D7F33}"/>
              </a:ext>
            </a:extLst>
          </p:cNvPr>
          <p:cNvSpPr txBox="1"/>
          <p:nvPr/>
        </p:nvSpPr>
        <p:spPr>
          <a:xfrm>
            <a:off x="8666728" y="4770409"/>
            <a:ext cx="37141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11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88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435182DD-EF6D-1B99-082B-CFA0D18B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>
            <a:extLst>
              <a:ext uri="{FF2B5EF4-FFF2-40B4-BE49-F238E27FC236}">
                <a16:creationId xmlns:a16="http://schemas.microsoft.com/office/drawing/2014/main" id="{A71C258F-5403-AA99-E009-B791B2965BF5}"/>
              </a:ext>
            </a:extLst>
          </p:cNvPr>
          <p:cNvSpPr/>
          <p:nvPr/>
        </p:nvSpPr>
        <p:spPr>
          <a:xfrm>
            <a:off x="259917" y="1351067"/>
            <a:ext cx="708900" cy="876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2">
            <a:extLst>
              <a:ext uri="{FF2B5EF4-FFF2-40B4-BE49-F238E27FC236}">
                <a16:creationId xmlns:a16="http://schemas.microsoft.com/office/drawing/2014/main" id="{345F6E7C-BEB6-8D4E-9DBA-F744CF9AC6A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29082" y="1351067"/>
            <a:ext cx="5306404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Kiểm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thử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tự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động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(Automated Unit Tests)</a:t>
            </a:r>
            <a:endParaRPr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" name="Google Shape;201;p31">
            <a:extLst>
              <a:ext uri="{FF2B5EF4-FFF2-40B4-BE49-F238E27FC236}">
                <a16:creationId xmlns:a16="http://schemas.microsoft.com/office/drawing/2014/main" id="{08A1B081-0022-10AA-3361-5895964A0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03 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KIỂM THỬ THỰC NGHIỆM</a:t>
            </a:r>
            <a:endParaRPr sz="2000" b="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2" name="Picture 2" descr="Python logo - free Icon PNG, SVG">
            <a:extLst>
              <a:ext uri="{FF2B5EF4-FFF2-40B4-BE49-F238E27FC236}">
                <a16:creationId xmlns:a16="http://schemas.microsoft.com/office/drawing/2014/main" id="{EC263CCD-7467-B7DD-CD3C-4B23C1D67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54" y="1503853"/>
            <a:ext cx="570426" cy="57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14CCD7-570D-33FF-774A-AE626E9A0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798" y="1826567"/>
            <a:ext cx="5306404" cy="3120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5B9CCE-01FF-DA94-FA28-8189B17DFBCE}"/>
              </a:ext>
            </a:extLst>
          </p:cNvPr>
          <p:cNvSpPr txBox="1"/>
          <p:nvPr/>
        </p:nvSpPr>
        <p:spPr>
          <a:xfrm>
            <a:off x="8666728" y="4770409"/>
            <a:ext cx="37141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12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6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F43F82E-CB07-1E59-CF5B-88145F4C4A1F}"/>
              </a:ext>
            </a:extLst>
          </p:cNvPr>
          <p:cNvSpPr/>
          <p:nvPr/>
        </p:nvSpPr>
        <p:spPr>
          <a:xfrm>
            <a:off x="777786" y="2004545"/>
            <a:ext cx="7586075" cy="965200"/>
          </a:xfrm>
          <a:prstGeom prst="roundRect">
            <a:avLst/>
          </a:prstGeom>
          <a:ln>
            <a:solidFill>
              <a:schemeClr val="tx2">
                <a:lumMod val="95000"/>
              </a:schemeClr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Hoàn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thiện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trọn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vẹn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RESTful API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đáp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ứng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đồng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bộ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việc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rà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soát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quy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chế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đào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tạo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dữ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liệu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kết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xuất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chính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xác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và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nhất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quán</a:t>
            </a:r>
            <a:r>
              <a:rPr lang="en-US" sz="20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. </a:t>
            </a:r>
          </a:p>
        </p:txBody>
      </p:sp>
      <p:sp>
        <p:nvSpPr>
          <p:cNvPr id="5" name="Google Shape;201;p31">
            <a:extLst>
              <a:ext uri="{FF2B5EF4-FFF2-40B4-BE49-F238E27FC236}">
                <a16:creationId xmlns:a16="http://schemas.microsoft.com/office/drawing/2014/main" id="{0F1B1A43-2CAC-B79C-140A-D4E5EA8F9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025" y="502960"/>
            <a:ext cx="77196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04 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KẾT LUẬN</a:t>
            </a:r>
            <a:endParaRPr sz="2000" b="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2A8190-3CBC-AC24-0663-334340DAF000}"/>
              </a:ext>
            </a:extLst>
          </p:cNvPr>
          <p:cNvSpPr/>
          <p:nvPr/>
        </p:nvSpPr>
        <p:spPr>
          <a:xfrm>
            <a:off x="607967" y="3675340"/>
            <a:ext cx="3794215" cy="965200"/>
          </a:xfrm>
          <a:prstGeom prst="roundRect">
            <a:avLst/>
          </a:prstGeom>
          <a:solidFill>
            <a:srgbClr val="740000"/>
          </a:solidFill>
          <a:ln>
            <a:solidFill>
              <a:schemeClr val="tx2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Cơ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chế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bảo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mật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mới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dừng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lại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ở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phân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quyền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session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cơ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bản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chưa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áp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dụng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mã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hóa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chuyên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sâu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qua JSON Web Token (JWT).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1EDCEA0-A4C3-F3B8-2A31-90539E9DD1FC}"/>
              </a:ext>
            </a:extLst>
          </p:cNvPr>
          <p:cNvSpPr/>
          <p:nvPr/>
        </p:nvSpPr>
        <p:spPr>
          <a:xfrm>
            <a:off x="4741817" y="3675340"/>
            <a:ext cx="3794215" cy="965200"/>
          </a:xfrm>
          <a:prstGeom prst="roundRect">
            <a:avLst/>
          </a:prstGeom>
          <a:solidFill>
            <a:srgbClr val="740000"/>
          </a:solidFill>
          <a:ln>
            <a:solidFill>
              <a:schemeClr val="tx2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Phôi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lịch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sử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học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tập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vẫn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đang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phải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import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thủ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công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chưa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có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API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đồng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bộ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thời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gian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thực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(Real-time)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với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cơ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sở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dữ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liệu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gốc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của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Phòng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Đào </a:t>
            </a:r>
            <a:r>
              <a:rPr lang="en-US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tạo</a:t>
            </a:r>
            <a:r>
              <a:rPr lang="en-US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.</a:t>
            </a:r>
          </a:p>
        </p:txBody>
      </p:sp>
      <p:sp>
        <p:nvSpPr>
          <p:cNvPr id="34" name="Google Shape;240;p32">
            <a:extLst>
              <a:ext uri="{FF2B5EF4-FFF2-40B4-BE49-F238E27FC236}">
                <a16:creationId xmlns:a16="http://schemas.microsoft.com/office/drawing/2014/main" id="{293123F2-BB45-320B-93C4-355AE2FFAEA4}"/>
              </a:ext>
            </a:extLst>
          </p:cNvPr>
          <p:cNvSpPr txBox="1">
            <a:spLocks/>
          </p:cNvSpPr>
          <p:nvPr/>
        </p:nvSpPr>
        <p:spPr>
          <a:xfrm>
            <a:off x="3425626" y="1444440"/>
            <a:ext cx="2290393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en-US" b="1" dirty="0" err="1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Kết</a:t>
            </a:r>
            <a:r>
              <a:rPr lang="en-US" b="1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quả</a:t>
            </a:r>
            <a:r>
              <a:rPr lang="en-US" b="1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đạt</a:t>
            </a:r>
            <a:r>
              <a:rPr lang="en-US" b="1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được</a:t>
            </a:r>
            <a:endParaRPr lang="en-US" b="1" dirty="0">
              <a:solidFill>
                <a:schemeClr val="tx1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35" name="Google Shape;240;p32">
            <a:extLst>
              <a:ext uri="{FF2B5EF4-FFF2-40B4-BE49-F238E27FC236}">
                <a16:creationId xmlns:a16="http://schemas.microsoft.com/office/drawing/2014/main" id="{497900E3-896F-5FB6-2CAA-4C47A20FB906}"/>
              </a:ext>
            </a:extLst>
          </p:cNvPr>
          <p:cNvSpPr txBox="1">
            <a:spLocks/>
          </p:cNvSpPr>
          <p:nvPr/>
        </p:nvSpPr>
        <p:spPr>
          <a:xfrm>
            <a:off x="3425625" y="3199840"/>
            <a:ext cx="2290393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en-US" b="1" dirty="0" err="1">
                <a:solidFill>
                  <a:srgbClr val="74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Hạn</a:t>
            </a:r>
            <a:r>
              <a:rPr lang="en-US" b="1" dirty="0">
                <a:solidFill>
                  <a:srgbClr val="74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b="1" dirty="0" err="1">
                <a:solidFill>
                  <a:srgbClr val="74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chế</a:t>
            </a:r>
            <a:endParaRPr lang="en-US" b="1" dirty="0">
              <a:solidFill>
                <a:srgbClr val="740000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F4843D-08DD-BC32-01B0-25993CEC42B8}"/>
              </a:ext>
            </a:extLst>
          </p:cNvPr>
          <p:cNvSpPr txBox="1"/>
          <p:nvPr/>
        </p:nvSpPr>
        <p:spPr>
          <a:xfrm>
            <a:off x="8666728" y="4770409"/>
            <a:ext cx="37141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13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9"/>
          <p:cNvSpPr txBox="1">
            <a:spLocks noGrp="1"/>
          </p:cNvSpPr>
          <p:nvPr>
            <p:ph type="title"/>
          </p:nvPr>
        </p:nvSpPr>
        <p:spPr>
          <a:xfrm>
            <a:off x="713225" y="542050"/>
            <a:ext cx="7717500" cy="12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628" name="Google Shape;628;p49"/>
          <p:cNvSpPr txBox="1">
            <a:spLocks noGrp="1"/>
          </p:cNvSpPr>
          <p:nvPr>
            <p:ph type="subTitle" idx="1"/>
          </p:nvPr>
        </p:nvSpPr>
        <p:spPr>
          <a:xfrm>
            <a:off x="2699375" y="1711195"/>
            <a:ext cx="3745200" cy="860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4800" dirty="0">
                <a:latin typeface="Rubik"/>
                <a:ea typeface="Rubik"/>
                <a:cs typeface="Rubik"/>
                <a:sym typeface="Rubik"/>
              </a:rPr>
              <a:t>Q&amp;A?</a:t>
            </a:r>
            <a:endParaRPr sz="3600" dirty="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65A1B-2B0A-13AB-99ED-57EBAF79C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62250" y="3549650"/>
            <a:ext cx="3816350" cy="9080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56;p26">
            <a:extLst>
              <a:ext uri="{FF2B5EF4-FFF2-40B4-BE49-F238E27FC236}">
                <a16:creationId xmlns:a16="http://schemas.microsoft.com/office/drawing/2014/main" id="{B3E44FEB-80C1-DD52-933A-65A111CD6922}"/>
              </a:ext>
            </a:extLst>
          </p:cNvPr>
          <p:cNvSpPr txBox="1">
            <a:spLocks/>
          </p:cNvSpPr>
          <p:nvPr/>
        </p:nvSpPr>
        <p:spPr>
          <a:xfrm>
            <a:off x="713224" y="3006150"/>
            <a:ext cx="7717501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  <a:defRPr sz="70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7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ỨNG DỤNG RESTFUL API - DJANGO XÂY DỰNG HỆ THỐNG TRA CỨU XÉT TỐT NGHIỆP SINH VIÊN NGÀNH CNTT CHÍNH QUY</a:t>
            </a:r>
          </a:p>
        </p:txBody>
      </p:sp>
      <p:sp>
        <p:nvSpPr>
          <p:cNvPr id="4" name="Google Shape;157;p26">
            <a:extLst>
              <a:ext uri="{FF2B5EF4-FFF2-40B4-BE49-F238E27FC236}">
                <a16:creationId xmlns:a16="http://schemas.microsoft.com/office/drawing/2014/main" id="{0F1ADC38-E7E6-6286-6FBD-B5A8F72F9D17}"/>
              </a:ext>
            </a:extLst>
          </p:cNvPr>
          <p:cNvSpPr txBox="1">
            <a:spLocks/>
          </p:cNvSpPr>
          <p:nvPr/>
        </p:nvSpPr>
        <p:spPr>
          <a:xfrm>
            <a:off x="1183500" y="2719650"/>
            <a:ext cx="6777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sv-SE" dirty="0"/>
              <a:t>Nhóm 5 – Phan Trung Kiên - 23520805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C89D47-517A-F513-F8FF-8548F059F030}"/>
              </a:ext>
            </a:extLst>
          </p:cNvPr>
          <p:cNvCxnSpPr>
            <a:cxnSpLocks/>
          </p:cNvCxnSpPr>
          <p:nvPr/>
        </p:nvCxnSpPr>
        <p:spPr>
          <a:xfrm flipH="1">
            <a:off x="2355850" y="2667000"/>
            <a:ext cx="44323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73038B-267D-5AB8-AAEE-13B5F38AA444}"/>
              </a:ext>
            </a:extLst>
          </p:cNvPr>
          <p:cNvSpPr txBox="1"/>
          <p:nvPr/>
        </p:nvSpPr>
        <p:spPr>
          <a:xfrm>
            <a:off x="8666728" y="4770409"/>
            <a:ext cx="37141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14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CA2CC-47B2-93D6-B98B-54E398CAD49A}"/>
              </a:ext>
            </a:extLst>
          </p:cNvPr>
          <p:cNvSpPr txBox="1"/>
          <p:nvPr/>
        </p:nvSpPr>
        <p:spPr>
          <a:xfrm>
            <a:off x="2257007" y="4770473"/>
            <a:ext cx="4629986" cy="25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b="1" dirty="0">
                <a:effectLst/>
                <a:latin typeface="Google Sans" pitchFamily="2" charset="0"/>
                <a:ea typeface="Google Sans" pitchFamily="2" charset="0"/>
                <a:cs typeface="Google Sans" pitchFamily="2" charset="0"/>
              </a:rPr>
              <a:t>IE221.Q22.CNVN</a:t>
            </a:r>
            <a:endParaRPr lang="en-US" sz="1050" dirty="0">
              <a:effectLst/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-Pandemic Safe Meeting Program by Slidesgo">
  <a:themeElements>
    <a:clrScheme name="Simple Light">
      <a:dk1>
        <a:srgbClr val="0C343D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911</Words>
  <Application>Microsoft Office PowerPoint</Application>
  <PresentationFormat>On-screen Show (16:9)</PresentationFormat>
  <Paragraphs>100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Courier New</vt:lpstr>
      <vt:lpstr>Rubik ExtraBold</vt:lpstr>
      <vt:lpstr>Google Sans</vt:lpstr>
      <vt:lpstr>Archivo</vt:lpstr>
      <vt:lpstr>Google Sans Text</vt:lpstr>
      <vt:lpstr>Arial</vt:lpstr>
      <vt:lpstr>Montserrat Black</vt:lpstr>
      <vt:lpstr>Rubik</vt:lpstr>
      <vt:lpstr>Roboto Condensed Light</vt:lpstr>
      <vt:lpstr>Montserrat</vt:lpstr>
      <vt:lpstr>Post-Pandemic Safe Meeting Program by Slidesgo</vt:lpstr>
      <vt:lpstr>ỨNG DỤNG RESTFUL API - DJANGO XÂY DỰNG HỆ THỐNG TRA CỨU XÉT TỐT NGHIỆP SINH VIÊN NGÀNH CNTT CHÍNH QUY</vt:lpstr>
      <vt:lpstr>02</vt:lpstr>
      <vt:lpstr>01 GIỚI THIỆU</vt:lpstr>
      <vt:lpstr>02 PHÂN TÍCH, THIẾT KẾ &amp; TRIỂN KHAI Mô tả cơ sở dữ liệu </vt:lpstr>
      <vt:lpstr>02 PHÂN TÍCH, THIẾT KẾ &amp; TRIỂN KHAI </vt:lpstr>
      <vt:lpstr>02 PHÂN TÍCH, THIẾT KẾ &amp; TRIỂN KHAI Sơ đồ lớp</vt:lpstr>
      <vt:lpstr>02 PHÂN TÍCH, THIẾT KẾ &amp; TRIỂN KHAI Kiến trúc hệ thống Backend – Tổng quan</vt:lpstr>
      <vt:lpstr>02 PHÂN TÍCH, THIẾT KẾ &amp; TRIỂN KHAI Kiến trúc hệ thống Backend - Module</vt:lpstr>
      <vt:lpstr>02 PHÂN TÍCH, THIẾT KẾ &amp; TRIỂN KHAI Kiến trúc triển khai &amp; Danh sách API</vt:lpstr>
      <vt:lpstr>02 PHÂN TÍCH, THIẾT KẾ &amp; TRIỂN KHAI Tính năng “Thẩm định tốt nghiệp tự động”</vt:lpstr>
      <vt:lpstr>03 KIỂM THỬ THỰC NGHIỆM</vt:lpstr>
      <vt:lpstr>03 KIỂM THỬ THỰC NGHIỆM</vt:lpstr>
      <vt:lpstr>04 KẾT LUẬN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Trung Kiên</cp:lastModifiedBy>
  <cp:revision>5</cp:revision>
  <dcterms:modified xsi:type="dcterms:W3CDTF">2026-06-04T22:18:32Z</dcterms:modified>
</cp:coreProperties>
</file>